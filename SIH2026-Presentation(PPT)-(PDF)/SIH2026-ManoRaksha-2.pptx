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8" userDrawn="1">
          <p15:clr>
            <a:srgbClr val="A4A3A4"/>
          </p15:clr>
        </p15:guide>
        <p15:guide id="2" pos="374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000"/>
    <a:srgbClr val="39B0D4"/>
    <a:srgbClr val="9BBB59"/>
    <a:srgbClr val="727272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499" y="72"/>
      </p:cViewPr>
      <p:guideLst>
        <p:guide orient="horz" pos="2228"/>
        <p:guide pos="374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ya Singh" userId="ca207b9906979907" providerId="LiveId" clId="{FD9163C9-C3A9-4355-81D3-3D5177E0E075}"/>
    <pc:docChg chg="modSld">
      <pc:chgData name="Aditya Singh" userId="ca207b9906979907" providerId="LiveId" clId="{FD9163C9-C3A9-4355-81D3-3D5177E0E075}" dt="2026-09-17T05:22:11.038" v="16" actId="692"/>
      <pc:docMkLst>
        <pc:docMk/>
      </pc:docMkLst>
      <pc:sldChg chg="modSp mod">
        <pc:chgData name="Aditya Singh" userId="ca207b9906979907" providerId="LiveId" clId="{FD9163C9-C3A9-4355-81D3-3D5177E0E075}" dt="2026-09-15T06:29:30.735" v="5" actId="14100"/>
        <pc:sldMkLst>
          <pc:docMk/>
          <pc:sldMk cId="0" sldId="290"/>
        </pc:sldMkLst>
        <pc:picChg chg="mod">
          <ac:chgData name="Aditya Singh" userId="ca207b9906979907" providerId="LiveId" clId="{FD9163C9-C3A9-4355-81D3-3D5177E0E075}" dt="2026-09-15T06:28:10.606" v="0" actId="14826"/>
          <ac:picMkLst>
            <pc:docMk/>
            <pc:sldMk cId="0" sldId="290"/>
            <ac:picMk id="15" creationId="{E1F648BC-FC0D-44DC-D1AA-B2E1B5FA3549}"/>
          </ac:picMkLst>
        </pc:picChg>
        <pc:picChg chg="mod">
          <ac:chgData name="Aditya Singh" userId="ca207b9906979907" providerId="LiveId" clId="{FD9163C9-C3A9-4355-81D3-3D5177E0E075}" dt="2026-09-15T06:29:06.352" v="3" actId="14100"/>
          <ac:picMkLst>
            <pc:docMk/>
            <pc:sldMk cId="0" sldId="290"/>
            <ac:picMk id="19" creationId="{437610E0-A5AE-64A2-1607-746F66C98BC1}"/>
          </ac:picMkLst>
        </pc:picChg>
        <pc:picChg chg="mod">
          <ac:chgData name="Aditya Singh" userId="ca207b9906979907" providerId="LiveId" clId="{FD9163C9-C3A9-4355-81D3-3D5177E0E075}" dt="2026-09-15T06:29:30.735" v="5" actId="14100"/>
          <ac:picMkLst>
            <pc:docMk/>
            <pc:sldMk cId="0" sldId="290"/>
            <ac:picMk id="21" creationId="{0E451E00-266A-27E3-8E66-C7F3993B0054}"/>
          </ac:picMkLst>
        </pc:picChg>
      </pc:sldChg>
      <pc:sldChg chg="addSp modSp mod">
        <pc:chgData name="Aditya Singh" userId="ca207b9906979907" providerId="LiveId" clId="{FD9163C9-C3A9-4355-81D3-3D5177E0E075}" dt="2026-09-17T05:22:11.038" v="16" actId="692"/>
        <pc:sldMkLst>
          <pc:docMk/>
          <pc:sldMk cId="2997144140" sldId="294"/>
        </pc:sldMkLst>
        <pc:spChg chg="add mod ord">
          <ac:chgData name="Aditya Singh" userId="ca207b9906979907" providerId="LiveId" clId="{FD9163C9-C3A9-4355-81D3-3D5177E0E075}" dt="2026-09-17T05:22:11.038" v="16" actId="692"/>
          <ac:spMkLst>
            <pc:docMk/>
            <pc:sldMk cId="2997144140" sldId="294"/>
            <ac:spMk id="3" creationId="{3FBF8CDD-917D-8023-2E7E-E820C1B2FC8C}"/>
          </ac:spMkLst>
        </pc:spChg>
        <pc:spChg chg="add mod ord">
          <ac:chgData name="Aditya Singh" userId="ca207b9906979907" providerId="LiveId" clId="{FD9163C9-C3A9-4355-81D3-3D5177E0E075}" dt="2026-09-17T05:22:05.066" v="14" actId="692"/>
          <ac:spMkLst>
            <pc:docMk/>
            <pc:sldMk cId="2997144140" sldId="294"/>
            <ac:spMk id="4" creationId="{54251EEE-1F36-E7DC-47D4-4D4FC69D383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hyperlink" Target="https://github.com/GitAdmin921/MANO-RAKSHA" TargetMode="External"/><Relationship Id="rId4" Type="http://schemas.openxmlformats.org/officeDocument/2006/relationships/hyperlink" Target="https://mano-raksha-v9lt.vercel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232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SIH26094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AI- powered dynamic mental health monitoring and distress prediction system for atrocities victims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Theme- MedTech / </a:t>
            </a: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BioTech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/ HealthTech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Segmentation Error</a:t>
            </a:r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922109F-03DB-40A2-D186-E042CD8ECF88}"/>
              </a:ext>
            </a:extLst>
          </p:cNvPr>
          <p:cNvSpPr/>
          <p:nvPr/>
        </p:nvSpPr>
        <p:spPr>
          <a:xfrm>
            <a:off x="329196" y="1410089"/>
            <a:ext cx="3449255" cy="4199250"/>
          </a:xfrm>
          <a:prstGeom prst="round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415570" y="-183670"/>
            <a:ext cx="10972800" cy="1724628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AI- powered dynamic mental health monitoring and </a:t>
            </a:r>
            <a:b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distress prediction system for atrocities victims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1040060"/>
            <a:ext cx="12191999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solidFill>
                  <a:srgbClr val="475569"/>
                </a:solidFill>
                <a:latin typeface="Aptos"/>
              </a:rPr>
              <a:t>A private, accessible and culturally sensitive web application designed for early support</a:t>
            </a:r>
            <a:r>
              <a:rPr lang="en-US" sz="1200" dirty="0">
                <a:solidFill>
                  <a:srgbClr val="475569"/>
                </a:solidFill>
                <a:latin typeface="Aptos"/>
              </a:rPr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95789" y="129001"/>
            <a:ext cx="1455219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Segmentation</a:t>
            </a:r>
          </a:p>
          <a:p>
            <a:pPr algn="ctr"/>
            <a:r>
              <a:rPr lang="en-US" sz="1100" dirty="0"/>
              <a:t>Error</a:t>
            </a:r>
            <a:endParaRPr lang="en-IN" sz="11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FC53CA7-8879-D10B-6D52-11FE99BD22AC}"/>
              </a:ext>
            </a:extLst>
          </p:cNvPr>
          <p:cNvSpPr txBox="1"/>
          <p:nvPr/>
        </p:nvSpPr>
        <p:spPr>
          <a:xfrm>
            <a:off x="393314" y="1721246"/>
            <a:ext cx="344925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b="1" dirty="0">
                <a:solidFill>
                  <a:schemeClr val="accent2"/>
                </a:solidFill>
              </a:rPr>
              <a:t>Problems Faced:-</a:t>
            </a:r>
          </a:p>
          <a:p>
            <a:endParaRPr lang="en-US" dirty="0">
              <a:latin typeface="Apto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ptos"/>
              </a:rPr>
              <a:t>People often recognize distress late, hesitate to seek help, or do not know what to do next.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Existing support is often event-driven rather than longitudinal.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The high cost of physical therapy binds low profile patients to reach out for help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1E293B"/>
              </a:solidFill>
              <a:latin typeface="Apto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63F3914-FD5D-7BD6-AB5E-504F9665E08B}"/>
              </a:ext>
            </a:extLst>
          </p:cNvPr>
          <p:cNvSpPr/>
          <p:nvPr/>
        </p:nvSpPr>
        <p:spPr>
          <a:xfrm>
            <a:off x="4361623" y="1410089"/>
            <a:ext cx="3449255" cy="4247317"/>
          </a:xfrm>
          <a:prstGeom prst="round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D51D091-8F35-485F-301A-B026908AF790}"/>
              </a:ext>
            </a:extLst>
          </p:cNvPr>
          <p:cNvSpPr/>
          <p:nvPr/>
        </p:nvSpPr>
        <p:spPr>
          <a:xfrm>
            <a:off x="8386541" y="1420784"/>
            <a:ext cx="3449255" cy="4247316"/>
          </a:xfrm>
          <a:prstGeom prst="round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B710C5-370A-B81C-EBF6-D37404F29BC9}"/>
              </a:ext>
            </a:extLst>
          </p:cNvPr>
          <p:cNvSpPr txBox="1"/>
          <p:nvPr/>
        </p:nvSpPr>
        <p:spPr>
          <a:xfrm>
            <a:off x="4493998" y="1749182"/>
            <a:ext cx="32040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Our </a:t>
            </a:r>
            <a:r>
              <a:rPr lang="en-US" b="1" dirty="0">
                <a:solidFill>
                  <a:srgbClr val="FFC000"/>
                </a:solidFill>
                <a:latin typeface="+mj-lt"/>
              </a:rPr>
              <a:t>Solution</a:t>
            </a:r>
            <a:r>
              <a:rPr lang="en-US" b="1" dirty="0">
                <a:solidFill>
                  <a:srgbClr val="FFC000"/>
                </a:solidFill>
              </a:rPr>
              <a:t>:-</a:t>
            </a:r>
          </a:p>
          <a:p>
            <a:endParaRPr lang="en-US" b="1" dirty="0">
              <a:solidFill>
                <a:schemeClr val="accent4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A guided space for self-reflection, emotional check-ins, coping and support</a:t>
            </a:r>
            <a:r>
              <a:rPr lang="en-IN" sz="1400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Supportive AI conversation, journal and resources.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Dynamic distress-risk layer for trend and escalation.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Human-in-the-loop alerts for defined high-risk conditions.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5CF379-D5E6-B115-9A64-1C1779DFCB38}"/>
              </a:ext>
            </a:extLst>
          </p:cNvPr>
          <p:cNvSpPr txBox="1"/>
          <p:nvPr/>
        </p:nvSpPr>
        <p:spPr>
          <a:xfrm>
            <a:off x="8543570" y="1749182"/>
            <a:ext cx="28448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4DBE7E"/>
                </a:solidFill>
                <a:latin typeface="+mj-lt"/>
              </a:rPr>
              <a:t>Why It's Different:-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Personal baseline; Compare changes with your own usual state, not with a general standard.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Multimodal-ready: text, voice and engagement signals.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Privacy-first: minimum data + scoped access.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Explainable: show why risk moved.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>
              <a:solidFill>
                <a:srgbClr val="4DBE7E"/>
              </a:solidFill>
              <a:latin typeface="+mj-lt"/>
            </a:endParaRPr>
          </a:p>
          <a:p>
            <a:endParaRPr lang="en-IN" dirty="0"/>
          </a:p>
        </p:txBody>
      </p:sp>
      <p:sp>
        <p:nvSpPr>
          <p:cNvPr id="16" name="Rounded Rectangle 14">
            <a:extLst>
              <a:ext uri="{FF2B5EF4-FFF2-40B4-BE49-F238E27FC236}">
                <a16:creationId xmlns:a16="http://schemas.microsoft.com/office/drawing/2014/main" id="{541615F4-DB9B-46BE-FB7D-76BD64D14B58}"/>
              </a:ext>
            </a:extLst>
          </p:cNvPr>
          <p:cNvSpPr/>
          <p:nvPr/>
        </p:nvSpPr>
        <p:spPr>
          <a:xfrm>
            <a:off x="329196" y="5837694"/>
            <a:ext cx="11506600" cy="380546"/>
          </a:xfrm>
          <a:prstGeom prst="roundRect">
            <a:avLst/>
          </a:prstGeom>
          <a:solidFill>
            <a:schemeClr val="tx2">
              <a:lumMod val="50000"/>
            </a:schemeClr>
          </a:solidFill>
          <a:ln w="10160">
            <a:solidFill>
              <a:srgbClr val="37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F0D1D8-12C2-D94F-4717-1C982684A4F1}"/>
              </a:ext>
            </a:extLst>
          </p:cNvPr>
          <p:cNvSpPr txBox="1"/>
          <p:nvPr/>
        </p:nvSpPr>
        <p:spPr>
          <a:xfrm>
            <a:off x="2604303" y="5910735"/>
            <a:ext cx="1541523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 dirty="0">
                <a:solidFill>
                  <a:srgbClr val="F1BE4C"/>
                </a:solidFill>
                <a:latin typeface="Aptos"/>
              </a:rPr>
              <a:t>ONE-LINE VALUE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E84A22-779D-9693-D06D-0CE2E2264A2D}"/>
              </a:ext>
            </a:extLst>
          </p:cNvPr>
          <p:cNvSpPr txBox="1"/>
          <p:nvPr/>
        </p:nvSpPr>
        <p:spPr>
          <a:xfrm>
            <a:off x="3489960" y="5910735"/>
            <a:ext cx="6881342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 dirty="0">
                <a:solidFill>
                  <a:srgbClr val="F5F2E9"/>
                </a:solidFill>
                <a:latin typeface="Aptos"/>
              </a:rPr>
              <a:t>Monitor continuously  →  understand trends  →  intervene earlier  →  keep humans in control</a:t>
            </a:r>
            <a:endParaRPr lang="en-US" sz="1100" b="1" i="0" dirty="0">
              <a:solidFill>
                <a:srgbClr val="F5F2E9"/>
              </a:solidFill>
              <a:latin typeface="Aptos"/>
            </a:endParaRPr>
          </a:p>
          <a:p>
            <a:pPr algn="ctr"/>
            <a:endParaRPr sz="1100" b="1" i="0" dirty="0">
              <a:solidFill>
                <a:srgbClr val="F5F2E9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63CF58C-F378-6CFC-9FD7-C37B50F82D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5972"/>
          <a:stretch>
            <a:fillRect/>
          </a:stretch>
        </p:blipFill>
        <p:spPr>
          <a:xfrm>
            <a:off x="6743318" y="1778953"/>
            <a:ext cx="4803912" cy="268832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844CF1-B722-3AA4-5688-164E4ECC86C3}"/>
              </a:ext>
            </a:extLst>
          </p:cNvPr>
          <p:cNvSpPr txBox="1"/>
          <p:nvPr/>
        </p:nvSpPr>
        <p:spPr>
          <a:xfrm>
            <a:off x="609600" y="1275818"/>
            <a:ext cx="367303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Technologie To Be Used:-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/>
              <a:t>Frontend</a:t>
            </a:r>
            <a:endParaRPr lang="en-IN" dirty="0"/>
          </a:p>
          <a:p>
            <a:pPr lvl="0"/>
            <a:r>
              <a:rPr lang="en-IN" dirty="0"/>
              <a:t> -&gt;React.js, JavaScript, Responsive UI</a:t>
            </a:r>
          </a:p>
          <a:p>
            <a:r>
              <a:rPr lang="en-IN" b="1" dirty="0"/>
              <a:t>2.   Backend</a:t>
            </a:r>
            <a:endParaRPr lang="en-IN" dirty="0"/>
          </a:p>
          <a:p>
            <a:pPr lvl="0"/>
            <a:r>
              <a:rPr lang="en-IN" dirty="0"/>
              <a:t> -&gt;Node.js, Express.js, REST APIs</a:t>
            </a:r>
          </a:p>
          <a:p>
            <a:r>
              <a:rPr lang="en-IN" b="1" dirty="0"/>
              <a:t>3.   Database</a:t>
            </a:r>
            <a:endParaRPr lang="en-IN" dirty="0"/>
          </a:p>
          <a:p>
            <a:pPr lvl="0"/>
            <a:r>
              <a:rPr lang="en-IN" dirty="0"/>
              <a:t> -&gt;SupaBase</a:t>
            </a:r>
          </a:p>
          <a:p>
            <a:r>
              <a:rPr lang="en-IN" b="1" dirty="0"/>
              <a:t>4.   AI/ML</a:t>
            </a:r>
            <a:endParaRPr lang="en-IN" dirty="0"/>
          </a:p>
          <a:p>
            <a:pPr lvl="0"/>
            <a:r>
              <a:rPr lang="en-IN" dirty="0"/>
              <a:t> -&gt;Python, AI/ML APIs or models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1F648BC-FC0D-44DC-D1AA-B2E1B5FA354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510151" y="4689231"/>
            <a:ext cx="2087702" cy="155762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6C106DB-9FAC-AD14-533F-8B5ACC128F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674" y="4689231"/>
            <a:ext cx="2151578" cy="155762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37610E0-A5AE-64A2-1607-746F66C98BC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492519" y="4575187"/>
            <a:ext cx="1607519" cy="166487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E451E00-266A-27E3-8E66-C7F3993B005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394773" y="4591282"/>
            <a:ext cx="1894550" cy="163502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1F7B06C-00A3-A910-60D5-591BD505FC6E}"/>
              </a:ext>
            </a:extLst>
          </p:cNvPr>
          <p:cNvSpPr txBox="1"/>
          <p:nvPr/>
        </p:nvSpPr>
        <p:spPr>
          <a:xfrm>
            <a:off x="6661257" y="1252498"/>
            <a:ext cx="4968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dirty="0"/>
              <a:t>Here, the data flow within the process is shown</a:t>
            </a:r>
            <a:endParaRPr lang="en-IN" b="1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4B9AB29-57EA-17D2-9136-4CB2D3B4A28A}"/>
              </a:ext>
            </a:extLst>
          </p:cNvPr>
          <p:cNvCxnSpPr/>
          <p:nvPr/>
        </p:nvCxnSpPr>
        <p:spPr>
          <a:xfrm>
            <a:off x="0" y="4467277"/>
            <a:ext cx="12192000" cy="0"/>
          </a:xfrm>
          <a:prstGeom prst="line">
            <a:avLst/>
          </a:prstGeom>
          <a:ln w="12700">
            <a:solidFill>
              <a:srgbClr val="01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52B3DC4-85FB-CC75-7CB6-D128D13B03FC}"/>
              </a:ext>
            </a:extLst>
          </p:cNvPr>
          <p:cNvSpPr txBox="1"/>
          <p:nvPr/>
        </p:nvSpPr>
        <p:spPr>
          <a:xfrm>
            <a:off x="87923" y="4575187"/>
            <a:ext cx="3491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Working Prototype:-</a:t>
            </a:r>
            <a:endParaRPr lang="en-IN" b="1" dirty="0"/>
          </a:p>
        </p:txBody>
      </p:sp>
      <p:sp>
        <p:nvSpPr>
          <p:cNvPr id="29" name="Oval 28" descr="Your startup LOGO">
            <a:extLst>
              <a:ext uri="{FF2B5EF4-FFF2-40B4-BE49-F238E27FC236}">
                <a16:creationId xmlns:a16="http://schemas.microsoft.com/office/drawing/2014/main" id="{DA7B1D4E-D201-AE17-EE76-CCD3DE9C04E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95789" y="129001"/>
            <a:ext cx="1455219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Segmentation</a:t>
            </a:r>
          </a:p>
          <a:p>
            <a:pPr algn="ctr"/>
            <a:r>
              <a:rPr lang="en-US" sz="1100" dirty="0"/>
              <a:t>Error</a:t>
            </a:r>
            <a:endParaRPr lang="en-IN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41" name="Rectangle: Rounded Corners 17440">
            <a:extLst>
              <a:ext uri="{FF2B5EF4-FFF2-40B4-BE49-F238E27FC236}">
                <a16:creationId xmlns:a16="http://schemas.microsoft.com/office/drawing/2014/main" id="{2E87C7D6-A6B6-3417-E34E-5FC3C4D18ADD}"/>
              </a:ext>
            </a:extLst>
          </p:cNvPr>
          <p:cNvSpPr/>
          <p:nvPr/>
        </p:nvSpPr>
        <p:spPr>
          <a:xfrm>
            <a:off x="206670" y="1265766"/>
            <a:ext cx="4454950" cy="3655041"/>
          </a:xfrm>
          <a:prstGeom prst="roundRect">
            <a:avLst>
              <a:gd name="adj" fmla="val 90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40" name="Rectangle: Rounded Corners 17439">
            <a:extLst>
              <a:ext uri="{FF2B5EF4-FFF2-40B4-BE49-F238E27FC236}">
                <a16:creationId xmlns:a16="http://schemas.microsoft.com/office/drawing/2014/main" id="{4C1DB411-CED1-8228-D516-0BB758F4FF23}"/>
              </a:ext>
            </a:extLst>
          </p:cNvPr>
          <p:cNvSpPr/>
          <p:nvPr/>
        </p:nvSpPr>
        <p:spPr>
          <a:xfrm>
            <a:off x="4838218" y="1271462"/>
            <a:ext cx="7059976" cy="3655041"/>
          </a:xfrm>
          <a:prstGeom prst="roundRect">
            <a:avLst>
              <a:gd name="adj" fmla="val 811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7D6CE30-658D-93B7-197C-5F8A5D89AA80}"/>
              </a:ext>
            </a:extLst>
          </p:cNvPr>
          <p:cNvSpPr/>
          <p:nvPr/>
        </p:nvSpPr>
        <p:spPr>
          <a:xfrm>
            <a:off x="193250" y="5124263"/>
            <a:ext cx="11705526" cy="994598"/>
          </a:xfrm>
          <a:prstGeom prst="roundRect">
            <a:avLst>
              <a:gd name="adj" fmla="val 20906"/>
            </a:avLst>
          </a:prstGeom>
          <a:solidFill>
            <a:schemeClr val="tx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2F5E98-DC85-2814-5AE6-007421000AF8}"/>
              </a:ext>
            </a:extLst>
          </p:cNvPr>
          <p:cNvSpPr txBox="1"/>
          <p:nvPr/>
        </p:nvSpPr>
        <p:spPr>
          <a:xfrm>
            <a:off x="2667000" y="762757"/>
            <a:ext cx="66655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Practical • Scalable • Sustainable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67FA6D-71AF-E4FC-75A5-CF2E68BC0050}"/>
              </a:ext>
            </a:extLst>
          </p:cNvPr>
          <p:cNvSpPr txBox="1"/>
          <p:nvPr/>
        </p:nvSpPr>
        <p:spPr>
          <a:xfrm>
            <a:off x="5134649" y="1795691"/>
            <a:ext cx="4953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TECHNICAL:-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Existing technologies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React + Node.js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SupaBase database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AI API integration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752A11-CBBE-AE63-86BF-7828DF2B7DDF}"/>
              </a:ext>
            </a:extLst>
          </p:cNvPr>
          <p:cNvSpPr txBox="1"/>
          <p:nvPr/>
        </p:nvSpPr>
        <p:spPr>
          <a:xfrm>
            <a:off x="8671829" y="1804147"/>
            <a:ext cx="46786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3">
                    <a:lumMod val="50000"/>
                  </a:schemeClr>
                </a:solidFill>
              </a:rPr>
              <a:t>ECONOMIC:-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Low development cost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No special hardware needed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Easy maintenance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No sign up fees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FC5D1A-32F8-B1A1-55D1-38D062006600}"/>
              </a:ext>
            </a:extLst>
          </p:cNvPr>
          <p:cNvSpPr txBox="1"/>
          <p:nvPr/>
        </p:nvSpPr>
        <p:spPr>
          <a:xfrm>
            <a:off x="5134649" y="3375117"/>
            <a:ext cx="4800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OPERATIONAL:-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Simple user interface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Easy onboarding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24/7 accessibility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Automated support</a:t>
            </a:r>
            <a:endParaRPr lang="en-IN" b="1" dirty="0">
              <a:latin typeface="+mj-l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94E8CD2-B717-CBA9-FC78-23AA8A379466}"/>
              </a:ext>
            </a:extLst>
          </p:cNvPr>
          <p:cNvSpPr txBox="1"/>
          <p:nvPr/>
        </p:nvSpPr>
        <p:spPr>
          <a:xfrm>
            <a:off x="8671829" y="3449175"/>
            <a:ext cx="46786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4">
                    <a:lumMod val="50000"/>
                  </a:schemeClr>
                </a:solidFill>
              </a:rPr>
              <a:t>SCALABILITY:-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Supports multiple users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Modular architecture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Easy feature expansion</a:t>
            </a:r>
          </a:p>
          <a:p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7502DB-D441-8EE0-A30B-7C8820FACF78}"/>
              </a:ext>
            </a:extLst>
          </p:cNvPr>
          <p:cNvSpPr txBox="1"/>
          <p:nvPr/>
        </p:nvSpPr>
        <p:spPr>
          <a:xfrm>
            <a:off x="1516698" y="5171913"/>
            <a:ext cx="886968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6"/>
                </a:solidFill>
                <a:latin typeface="+mj-lt"/>
              </a:rPr>
              <a:t>Why ManoRaksha?</a:t>
            </a:r>
          </a:p>
          <a:p>
            <a:r>
              <a:rPr lang="en-IN" sz="1600" dirty="0">
                <a:solidFill>
                  <a:schemeClr val="bg2"/>
                </a:solidFill>
              </a:rPr>
              <a:t>                                                 </a:t>
            </a:r>
            <a:r>
              <a:rPr lang="en-IN" sz="1600" dirty="0">
                <a:solidFill>
                  <a:schemeClr val="bg2"/>
                </a:solidFill>
                <a:latin typeface="+mn-lt"/>
              </a:rPr>
              <a:t>| Easy to deploy│   Easy to scale  │    Secure     │ </a:t>
            </a:r>
          </a:p>
          <a:p>
            <a:r>
              <a:rPr lang="en-IN" sz="1600" dirty="0">
                <a:solidFill>
                  <a:schemeClr val="bg2"/>
                </a:solidFill>
                <a:latin typeface="+mn-lt"/>
              </a:rPr>
              <a:t>                                                 │    AI-assisted   │  Cost-effective │  Accessible |</a:t>
            </a:r>
            <a:endParaRPr lang="en-US" sz="1600" b="1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DC3851-A2D1-9A05-CBD9-EF95BAE1BD11}"/>
              </a:ext>
            </a:extLst>
          </p:cNvPr>
          <p:cNvSpPr txBox="1"/>
          <p:nvPr/>
        </p:nvSpPr>
        <p:spPr>
          <a:xfrm>
            <a:off x="6462871" y="1271462"/>
            <a:ext cx="3673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+mj-lt"/>
              </a:rPr>
              <a:t>Practical Aspects</a:t>
            </a:r>
            <a:endParaRPr lang="en-IN" b="1" dirty="0">
              <a:latin typeface="+mj-lt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E0FE190-2D40-0B03-C482-67254AFE3A0A}"/>
              </a:ext>
            </a:extLst>
          </p:cNvPr>
          <p:cNvSpPr txBox="1"/>
          <p:nvPr/>
        </p:nvSpPr>
        <p:spPr>
          <a:xfrm>
            <a:off x="1581630" y="1274742"/>
            <a:ext cx="2500306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b="1" i="0" dirty="0">
                <a:latin typeface="+mj-lt"/>
              </a:rPr>
              <a:t>Risk → Mitigation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38147AE-EE93-6C7D-3688-6370408AEE35}"/>
              </a:ext>
            </a:extLst>
          </p:cNvPr>
          <p:cNvSpPr txBox="1"/>
          <p:nvPr/>
        </p:nvSpPr>
        <p:spPr>
          <a:xfrm>
            <a:off x="1701304" y="1774814"/>
            <a:ext cx="2973737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dirty="0">
                <a:latin typeface="+mn-lt"/>
              </a:rPr>
              <a:t>Show risk as a signal; use thresholds + human review.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1B7ED75-EDEB-9109-679F-563B4BD0E537}"/>
              </a:ext>
            </a:extLst>
          </p:cNvPr>
          <p:cNvSpPr txBox="1"/>
          <p:nvPr/>
        </p:nvSpPr>
        <p:spPr>
          <a:xfrm>
            <a:off x="1674463" y="2380540"/>
            <a:ext cx="2973737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dirty="0">
                <a:latin typeface="+mn-lt"/>
              </a:rPr>
              <a:t>Safety prompts, escalation pathways and explicit emergency guidance.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139FE26-A7E1-B7E1-6A68-F25F993DF7FF}"/>
              </a:ext>
            </a:extLst>
          </p:cNvPr>
          <p:cNvSpPr txBox="1"/>
          <p:nvPr/>
        </p:nvSpPr>
        <p:spPr>
          <a:xfrm>
            <a:off x="1674463" y="2917034"/>
            <a:ext cx="2973737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dirty="0">
                <a:latin typeface="+mn-lt"/>
              </a:rPr>
              <a:t>Consent, data minimization, encryption and scoped access</a:t>
            </a:r>
            <a:r>
              <a:rPr sz="1150" b="0" i="0" dirty="0">
                <a:latin typeface="+mn-lt"/>
              </a:rPr>
              <a:t>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CF3F086-6AC5-8E69-DFD8-C08DF1365692}"/>
              </a:ext>
            </a:extLst>
          </p:cNvPr>
          <p:cNvSpPr txBox="1"/>
          <p:nvPr/>
        </p:nvSpPr>
        <p:spPr>
          <a:xfrm>
            <a:off x="1701304" y="3546775"/>
            <a:ext cx="2973737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dirty="0">
                <a:latin typeface="+mn-lt"/>
              </a:rPr>
              <a:t>Evaluate across languages/populations; monitor model drift.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499984A-49E5-7988-CFA3-AD04FCC1AAEF}"/>
              </a:ext>
            </a:extLst>
          </p:cNvPr>
          <p:cNvSpPr txBox="1"/>
          <p:nvPr/>
        </p:nvSpPr>
        <p:spPr>
          <a:xfrm>
            <a:off x="1701303" y="4083560"/>
            <a:ext cx="2973737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dirty="0">
                <a:latin typeface="+mn-lt"/>
              </a:rPr>
              <a:t>No diagnosis from appearance; no autonomous clinical decision.</a:t>
            </a:r>
          </a:p>
        </p:txBody>
      </p:sp>
      <p:sp>
        <p:nvSpPr>
          <p:cNvPr id="17421" name="Rounded Rectangle 10">
            <a:extLst>
              <a:ext uri="{FF2B5EF4-FFF2-40B4-BE49-F238E27FC236}">
                <a16:creationId xmlns:a16="http://schemas.microsoft.com/office/drawing/2014/main" id="{849A13E9-A821-9395-5ABD-281D4F5F3E48}"/>
              </a:ext>
            </a:extLst>
          </p:cNvPr>
          <p:cNvSpPr/>
          <p:nvPr/>
        </p:nvSpPr>
        <p:spPr>
          <a:xfrm>
            <a:off x="329773" y="1809726"/>
            <a:ext cx="1143000" cy="310896"/>
          </a:xfrm>
          <a:prstGeom prst="roundRect">
            <a:avLst/>
          </a:prstGeom>
          <a:solidFill>
            <a:srgbClr val="F1B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3" name="TextBox 17422">
            <a:extLst>
              <a:ext uri="{FF2B5EF4-FFF2-40B4-BE49-F238E27FC236}">
                <a16:creationId xmlns:a16="http://schemas.microsoft.com/office/drawing/2014/main" id="{CF37F8B5-D1F8-8563-C6F4-47E985CC0844}"/>
              </a:ext>
            </a:extLst>
          </p:cNvPr>
          <p:cNvSpPr txBox="1"/>
          <p:nvPr/>
        </p:nvSpPr>
        <p:spPr>
          <a:xfrm>
            <a:off x="329773" y="1799244"/>
            <a:ext cx="11430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 dirty="0">
                <a:solidFill>
                  <a:srgbClr val="07101F"/>
                </a:solidFill>
                <a:latin typeface="+mn-lt"/>
              </a:rPr>
              <a:t>FALSE ALARM</a:t>
            </a:r>
          </a:p>
        </p:txBody>
      </p:sp>
      <p:sp>
        <p:nvSpPr>
          <p:cNvPr id="17425" name="Rounded Rectangle 13">
            <a:extLst>
              <a:ext uri="{FF2B5EF4-FFF2-40B4-BE49-F238E27FC236}">
                <a16:creationId xmlns:a16="http://schemas.microsoft.com/office/drawing/2014/main" id="{50E9BC11-DC5F-0E9B-BDF5-CF8E3F098DCF}"/>
              </a:ext>
            </a:extLst>
          </p:cNvPr>
          <p:cNvSpPr/>
          <p:nvPr/>
        </p:nvSpPr>
        <p:spPr>
          <a:xfrm>
            <a:off x="324266" y="2425843"/>
            <a:ext cx="1143000" cy="310896"/>
          </a:xfrm>
          <a:prstGeom prst="roundRect">
            <a:avLst/>
          </a:prstGeom>
          <a:solidFill>
            <a:srgbClr val="D35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7" name="TextBox 17426">
            <a:extLst>
              <a:ext uri="{FF2B5EF4-FFF2-40B4-BE49-F238E27FC236}">
                <a16:creationId xmlns:a16="http://schemas.microsoft.com/office/drawing/2014/main" id="{319F823F-4D3F-1D86-D615-8F0F39CA536F}"/>
              </a:ext>
            </a:extLst>
          </p:cNvPr>
          <p:cNvSpPr txBox="1"/>
          <p:nvPr/>
        </p:nvSpPr>
        <p:spPr>
          <a:xfrm>
            <a:off x="324266" y="2415361"/>
            <a:ext cx="11430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 dirty="0">
                <a:solidFill>
                  <a:srgbClr val="07101F"/>
                </a:solidFill>
                <a:latin typeface="+mn-lt"/>
              </a:rPr>
              <a:t>MISSED CRISIS</a:t>
            </a:r>
          </a:p>
        </p:txBody>
      </p:sp>
      <p:sp>
        <p:nvSpPr>
          <p:cNvPr id="17429" name="Rounded Rectangle 16">
            <a:extLst>
              <a:ext uri="{FF2B5EF4-FFF2-40B4-BE49-F238E27FC236}">
                <a16:creationId xmlns:a16="http://schemas.microsoft.com/office/drawing/2014/main" id="{6D82CA00-42E7-131D-8D43-1850F2F129FF}"/>
              </a:ext>
            </a:extLst>
          </p:cNvPr>
          <p:cNvSpPr/>
          <p:nvPr/>
        </p:nvSpPr>
        <p:spPr>
          <a:xfrm>
            <a:off x="324266" y="2964190"/>
            <a:ext cx="1143000" cy="310896"/>
          </a:xfrm>
          <a:prstGeom prst="roundRect">
            <a:avLst/>
          </a:prstGeom>
          <a:solidFill>
            <a:srgbClr val="4DB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1" name="TextBox 17430">
            <a:extLst>
              <a:ext uri="{FF2B5EF4-FFF2-40B4-BE49-F238E27FC236}">
                <a16:creationId xmlns:a16="http://schemas.microsoft.com/office/drawing/2014/main" id="{9A5BE765-8BAB-1629-10C1-839E8C9CF7F3}"/>
              </a:ext>
            </a:extLst>
          </p:cNvPr>
          <p:cNvSpPr txBox="1"/>
          <p:nvPr/>
        </p:nvSpPr>
        <p:spPr>
          <a:xfrm>
            <a:off x="293806" y="2964190"/>
            <a:ext cx="1234881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 dirty="0">
                <a:solidFill>
                  <a:srgbClr val="07101F"/>
                </a:solidFill>
                <a:latin typeface="+mn-lt"/>
              </a:rPr>
              <a:t>SENSITIVE DATA</a:t>
            </a:r>
          </a:p>
        </p:txBody>
      </p:sp>
      <p:sp>
        <p:nvSpPr>
          <p:cNvPr id="17433" name="Rounded Rectangle 19">
            <a:extLst>
              <a:ext uri="{FF2B5EF4-FFF2-40B4-BE49-F238E27FC236}">
                <a16:creationId xmlns:a16="http://schemas.microsoft.com/office/drawing/2014/main" id="{47B3F410-B8E5-EE6E-7C01-F1BFCB951219}"/>
              </a:ext>
            </a:extLst>
          </p:cNvPr>
          <p:cNvSpPr/>
          <p:nvPr/>
        </p:nvSpPr>
        <p:spPr>
          <a:xfrm>
            <a:off x="324266" y="3569199"/>
            <a:ext cx="1143000" cy="310896"/>
          </a:xfrm>
          <a:prstGeom prst="roundRect">
            <a:avLst/>
          </a:prstGeom>
          <a:solidFill>
            <a:srgbClr val="569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5" name="TextBox 17434">
            <a:extLst>
              <a:ext uri="{FF2B5EF4-FFF2-40B4-BE49-F238E27FC236}">
                <a16:creationId xmlns:a16="http://schemas.microsoft.com/office/drawing/2014/main" id="{4E0BB988-25BC-E4D5-8031-4496C8F7FDF4}"/>
              </a:ext>
            </a:extLst>
          </p:cNvPr>
          <p:cNvSpPr txBox="1"/>
          <p:nvPr/>
        </p:nvSpPr>
        <p:spPr>
          <a:xfrm>
            <a:off x="324266" y="3558716"/>
            <a:ext cx="11430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 dirty="0">
                <a:solidFill>
                  <a:srgbClr val="07101F"/>
                </a:solidFill>
                <a:latin typeface="+mn-lt"/>
              </a:rPr>
              <a:t>BIAS</a:t>
            </a:r>
          </a:p>
        </p:txBody>
      </p:sp>
      <p:sp>
        <p:nvSpPr>
          <p:cNvPr id="17437" name="Rounded Rectangle 22">
            <a:extLst>
              <a:ext uri="{FF2B5EF4-FFF2-40B4-BE49-F238E27FC236}">
                <a16:creationId xmlns:a16="http://schemas.microsoft.com/office/drawing/2014/main" id="{7DAB5824-8AE9-E924-4CEE-C0C181655933}"/>
              </a:ext>
            </a:extLst>
          </p:cNvPr>
          <p:cNvSpPr/>
          <p:nvPr/>
        </p:nvSpPr>
        <p:spPr>
          <a:xfrm>
            <a:off x="324266" y="4113388"/>
            <a:ext cx="1143000" cy="310896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9" name="TextBox 17438">
            <a:extLst>
              <a:ext uri="{FF2B5EF4-FFF2-40B4-BE49-F238E27FC236}">
                <a16:creationId xmlns:a16="http://schemas.microsoft.com/office/drawing/2014/main" id="{AABC227C-98AA-97D4-729A-1849B67050C4}"/>
              </a:ext>
            </a:extLst>
          </p:cNvPr>
          <p:cNvSpPr txBox="1"/>
          <p:nvPr/>
        </p:nvSpPr>
        <p:spPr>
          <a:xfrm>
            <a:off x="324266" y="4102905"/>
            <a:ext cx="11430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 dirty="0">
                <a:solidFill>
                  <a:srgbClr val="F1BE4C"/>
                </a:solidFill>
                <a:latin typeface="+mn-lt"/>
              </a:rPr>
              <a:t>AI OVERREACH</a:t>
            </a:r>
          </a:p>
        </p:txBody>
      </p:sp>
      <p:sp>
        <p:nvSpPr>
          <p:cNvPr id="17443" name="Oval 17442" descr="Your startup LOGO">
            <a:extLst>
              <a:ext uri="{FF2B5EF4-FFF2-40B4-BE49-F238E27FC236}">
                <a16:creationId xmlns:a16="http://schemas.microsoft.com/office/drawing/2014/main" id="{3DBBD24C-BECB-CA44-5F81-17086BFB6CE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95789" y="129001"/>
            <a:ext cx="1455219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Segmentation</a:t>
            </a:r>
          </a:p>
          <a:p>
            <a:pPr algn="ctr"/>
            <a:r>
              <a:rPr lang="en-US" sz="1100" dirty="0"/>
              <a:t>Error</a:t>
            </a:r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4251EEE-1F36-E7DC-47D4-4D4FC69D3831}"/>
              </a:ext>
            </a:extLst>
          </p:cNvPr>
          <p:cNvSpPr/>
          <p:nvPr/>
        </p:nvSpPr>
        <p:spPr>
          <a:xfrm>
            <a:off x="6250200" y="1112962"/>
            <a:ext cx="5150957" cy="492442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FBF8CDD-917D-8023-2E7E-E820C1B2FC8C}"/>
              </a:ext>
            </a:extLst>
          </p:cNvPr>
          <p:cNvSpPr/>
          <p:nvPr/>
        </p:nvSpPr>
        <p:spPr>
          <a:xfrm>
            <a:off x="439614" y="1095375"/>
            <a:ext cx="5150957" cy="4924425"/>
          </a:xfrm>
          <a:prstGeom prst="roundRect">
            <a:avLst/>
          </a:prstGeom>
          <a:noFill/>
          <a:ln>
            <a:solidFill>
              <a:srgbClr val="01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D5451FF-7F10-A2BF-FAA7-67CB2F570B19}"/>
              </a:ext>
            </a:extLst>
          </p:cNvPr>
          <p:cNvSpPr txBox="1"/>
          <p:nvPr/>
        </p:nvSpPr>
        <p:spPr>
          <a:xfrm>
            <a:off x="609600" y="1342663"/>
            <a:ext cx="498097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+mj-lt"/>
              </a:rPr>
              <a:t>Impact On User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u="sng" dirty="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u="sng" dirty="0">
                <a:latin typeface="+mn-lt"/>
              </a:rPr>
              <a:t>Self-Awareness</a:t>
            </a:r>
            <a:r>
              <a:rPr lang="en-IN" sz="2000" dirty="0">
                <a:latin typeface="+mn-lt"/>
              </a:rPr>
              <a:t> : Helps users recognize changes in their mood and emotional well-being.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u="sng" dirty="0">
                <a:latin typeface="+mn-lt"/>
              </a:rPr>
              <a:t>Early Awareness </a:t>
            </a:r>
            <a:r>
              <a:rPr lang="en-IN" sz="2000" dirty="0">
                <a:latin typeface="+mn-lt"/>
              </a:rPr>
              <a:t>: Highlights possible warning signs so users can seek help earlier.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u="sng" dirty="0">
                <a:latin typeface="+mn-lt"/>
              </a:rPr>
              <a:t>Personalized Support</a:t>
            </a:r>
            <a:r>
              <a:rPr lang="en-IN" sz="2000" dirty="0">
                <a:latin typeface="+mn-lt"/>
              </a:rPr>
              <a:t>: Adapts guidance and resources according to individual needs.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u="sng" dirty="0">
                <a:latin typeface="+mn-lt"/>
              </a:rPr>
              <a:t>Better Support Access</a:t>
            </a:r>
            <a:r>
              <a:rPr lang="en-IN" sz="2000" dirty="0">
                <a:latin typeface="+mn-lt"/>
              </a:rPr>
              <a:t> : Connects users with appropriate professional and community resources.</a:t>
            </a:r>
            <a:endParaRPr lang="en-US" sz="2000" b="1" dirty="0">
              <a:latin typeface="+mn-lt"/>
            </a:endParaRPr>
          </a:p>
          <a:p>
            <a:endParaRPr lang="en-US" sz="2000" b="1" dirty="0">
              <a:latin typeface="+mj-lt"/>
            </a:endParaRPr>
          </a:p>
          <a:p>
            <a:endParaRPr lang="en-IN" sz="2000" b="1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CACC35-908A-2633-1936-43DFE8B133D2}"/>
              </a:ext>
            </a:extLst>
          </p:cNvPr>
          <p:cNvSpPr txBox="1"/>
          <p:nvPr/>
        </p:nvSpPr>
        <p:spPr>
          <a:xfrm>
            <a:off x="6304344" y="1342663"/>
            <a:ext cx="5173883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+mj-lt"/>
              </a:rPr>
              <a:t>Benefits Of ManoRaksha</a:t>
            </a:r>
          </a:p>
          <a:p>
            <a:endParaRPr lang="en-US" b="1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u="sng" dirty="0">
                <a:latin typeface="+mn-lt"/>
              </a:rPr>
              <a:t>AI-Assisted Guidance</a:t>
            </a:r>
            <a:r>
              <a:rPr lang="en-IN" sz="2000" dirty="0">
                <a:latin typeface="+mn-lt"/>
              </a:rPr>
              <a:t> : Uses AI to provide quick insights and relevant wellness suggestions.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u="sng" dirty="0">
                <a:latin typeface="+mn-lt"/>
              </a:rPr>
              <a:t>Private &amp; Secure</a:t>
            </a:r>
            <a:r>
              <a:rPr lang="en-IN" sz="2000" dirty="0">
                <a:latin typeface="+mn-lt"/>
              </a:rPr>
              <a:t> :  Protects sensitive user information through secure data handling.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u="sng" dirty="0">
                <a:latin typeface="+mn-lt"/>
              </a:rPr>
              <a:t>24/7 Accessibility</a:t>
            </a:r>
            <a:r>
              <a:rPr lang="en-IN" sz="2000" dirty="0">
                <a:latin typeface="+mn-lt"/>
              </a:rPr>
              <a:t> : Makes wellness resources and initial support available anytime.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u="sng" dirty="0">
                <a:latin typeface="+mn-lt"/>
              </a:rPr>
              <a:t>Timely Intervention</a:t>
            </a:r>
            <a:r>
              <a:rPr lang="en-IN" sz="2000" dirty="0">
                <a:latin typeface="+mn-lt"/>
              </a:rPr>
              <a:t> :  Helps identify concerning patterns and encourages appropriate support.</a:t>
            </a:r>
            <a:endParaRPr lang="en-US" sz="200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u="sng" dirty="0"/>
              <a:t>One Integrated Platform</a:t>
            </a:r>
            <a:r>
              <a:rPr lang="en-IN" sz="2000" dirty="0"/>
              <a:t> : Brings assessment, tracking, resources and support together in one place.</a:t>
            </a:r>
            <a:endParaRPr lang="en-US" sz="2000" b="1" dirty="0">
              <a:latin typeface="+mn-lt"/>
            </a:endParaRPr>
          </a:p>
          <a:p>
            <a:pPr algn="ctr"/>
            <a:endParaRPr lang="en-IN" b="1" dirty="0">
              <a:latin typeface="+mj-lt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0D1A7E22-1C11-EE42-772C-29809131244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95789" y="129001"/>
            <a:ext cx="1455219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Segmentation</a:t>
            </a:r>
          </a:p>
          <a:p>
            <a:pPr algn="ctr"/>
            <a:r>
              <a:rPr lang="en-US" sz="1100" dirty="0"/>
              <a:t>Error</a:t>
            </a:r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AFE92FA-9163-0B34-D623-E3D7CD2CA2BC}"/>
              </a:ext>
            </a:extLst>
          </p:cNvPr>
          <p:cNvSpPr/>
          <p:nvPr/>
        </p:nvSpPr>
        <p:spPr>
          <a:xfrm>
            <a:off x="8218024" y="2883287"/>
            <a:ext cx="1920113" cy="1652026"/>
          </a:xfrm>
          <a:prstGeom prst="roundRect">
            <a:avLst/>
          </a:prstGeom>
          <a:noFill/>
          <a:ln w="666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C8CA625-7A26-0CFC-50BC-30D4A8DD3B84}"/>
              </a:ext>
            </a:extLst>
          </p:cNvPr>
          <p:cNvSpPr txBox="1"/>
          <p:nvPr/>
        </p:nvSpPr>
        <p:spPr>
          <a:xfrm>
            <a:off x="292593" y="1246431"/>
            <a:ext cx="5633013" cy="541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+mj-lt"/>
              </a:rPr>
              <a:t>                                   </a:t>
            </a:r>
            <a:r>
              <a:rPr lang="en-US" sz="2400" b="1" dirty="0">
                <a:latin typeface="+mj-lt"/>
              </a:rPr>
              <a:t>Research</a:t>
            </a:r>
          </a:p>
          <a:p>
            <a:pPr algn="ctr"/>
            <a:endParaRPr lang="en-I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The Unspeakable Mind</a:t>
            </a:r>
            <a:r>
              <a:rPr lang="en-IN" sz="2400" dirty="0"/>
              <a:t> by Shaili Jain, M.D.                </a:t>
            </a:r>
            <a:r>
              <a:rPr lang="en-IN" sz="1400" dirty="0"/>
              <a:t>A psychiatrist explores post-traumatic stress disorder (PTSD). The book looks at how violent and unspeakable experiences fracture the mind and how recovery is possible.</a:t>
            </a: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The Body Keeps the Score</a:t>
            </a:r>
            <a:r>
              <a:rPr lang="en-IN" sz="2000" dirty="0"/>
              <a:t> by Bessel van der Kolk </a:t>
            </a:r>
            <a:r>
              <a:rPr lang="en-IN" sz="1400" dirty="0"/>
              <a:t>This widely read book explains how trauma impacts both the body and the mind, offering alternative paths to healing.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World Health Organization </a:t>
            </a:r>
            <a:r>
              <a:rPr lang="en-IN" sz="2000" dirty="0"/>
              <a:t>(WHO):                 </a:t>
            </a:r>
            <a:r>
              <a:rPr lang="en-IN" sz="1400" dirty="0"/>
              <a:t>Provides global data, policies, and initiatives regarding brain health and well-being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Tele-MANAS:</a:t>
            </a:r>
            <a:r>
              <a:rPr lang="en-IN" sz="2000" dirty="0"/>
              <a:t>                                                           </a:t>
            </a:r>
            <a:r>
              <a:rPr lang="en-IN" sz="1400" dirty="0"/>
              <a:t>India's free, 24/7 national tele-mental health service offering confidential </a:t>
            </a:r>
            <a:r>
              <a:rPr lang="en-IN" sz="1400" dirty="0" err="1"/>
              <a:t>counseling</a:t>
            </a:r>
            <a:r>
              <a:rPr lang="en-IN" sz="1400" dirty="0"/>
              <a:t> by trained professionals (toll-free via 14416).</a:t>
            </a:r>
            <a:endParaRPr lang="en-IN" sz="2000" b="1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>
              <a:latin typeface="+mj-lt"/>
            </a:endParaRPr>
          </a:p>
          <a:p>
            <a:pPr algn="ctr"/>
            <a:endParaRPr lang="en-IN" sz="2000" b="1" dirty="0"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D7A8A9-0A51-F66B-05B6-2FE5CBF404BA}"/>
              </a:ext>
            </a:extLst>
          </p:cNvPr>
          <p:cNvSpPr txBox="1"/>
          <p:nvPr/>
        </p:nvSpPr>
        <p:spPr>
          <a:xfrm>
            <a:off x="6266396" y="1246431"/>
            <a:ext cx="598518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+mj-lt"/>
              </a:rPr>
              <a:t>Reference</a:t>
            </a:r>
          </a:p>
          <a:p>
            <a:endParaRPr lang="en-US" sz="2000" b="1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+mj-lt"/>
              </a:rPr>
              <a:t>ManoRaksha :-                                            </a:t>
            </a:r>
            <a:r>
              <a:rPr lang="en-US" sz="2000" b="1" dirty="0">
                <a:latin typeface="+mj-lt"/>
                <a:hlinkClick r:id="rId4"/>
              </a:rPr>
              <a:t>https://mano-raksha-v9lt.vercel.app/</a:t>
            </a:r>
            <a:endParaRPr lang="en-US" sz="2000" b="1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+mj-lt"/>
              </a:rPr>
              <a:t>QR Code:- </a:t>
            </a:r>
          </a:p>
          <a:p>
            <a:endParaRPr lang="en-US" sz="2000" b="1" dirty="0">
              <a:latin typeface="+mj-lt"/>
            </a:endParaRPr>
          </a:p>
          <a:p>
            <a:endParaRPr lang="en-US" sz="2000" b="1" dirty="0">
              <a:latin typeface="+mj-lt"/>
            </a:endParaRPr>
          </a:p>
          <a:p>
            <a:endParaRPr lang="en-US" sz="2000" b="1" dirty="0">
              <a:latin typeface="+mj-lt"/>
            </a:endParaRPr>
          </a:p>
          <a:p>
            <a:endParaRPr lang="en-US" sz="2000" b="1" dirty="0">
              <a:latin typeface="+mj-lt"/>
            </a:endParaRPr>
          </a:p>
          <a:p>
            <a:endParaRPr lang="en-US" sz="2000" b="1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+mj-lt"/>
              </a:rPr>
              <a:t>GitHub Repository:- </a:t>
            </a:r>
          </a:p>
          <a:p>
            <a:r>
              <a:rPr lang="en-US" sz="2000" b="1" dirty="0">
                <a:latin typeface="+mj-lt"/>
              </a:rPr>
              <a:t>     </a:t>
            </a:r>
            <a:r>
              <a:rPr lang="en-US" sz="2000" b="1" dirty="0">
                <a:latin typeface="+mj-lt"/>
                <a:hlinkClick r:id="rId5"/>
              </a:rPr>
              <a:t>https://github.com/GitAdmin921/MANO-RAKSHA</a:t>
            </a:r>
            <a:endParaRPr lang="en-US" sz="2000" b="1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+mj-lt"/>
              </a:rPr>
              <a:t>YouTube link:                                                                      </a:t>
            </a:r>
          </a:p>
          <a:p>
            <a:pPr algn="ctr"/>
            <a:endParaRPr lang="en-IN" sz="2000" b="1" dirty="0">
              <a:latin typeface="+mj-lt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4F005D2-FEC4-ED57-962C-E88A7D4D1B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6114" y="2964579"/>
            <a:ext cx="1543934" cy="1436358"/>
          </a:xfrm>
          <a:prstGeom prst="rect">
            <a:avLst/>
          </a:prstGeom>
        </p:spPr>
      </p:pic>
      <p:sp>
        <p:nvSpPr>
          <p:cNvPr id="16" name="Oval 15" descr="Your startup LOGO">
            <a:extLst>
              <a:ext uri="{FF2B5EF4-FFF2-40B4-BE49-F238E27FC236}">
                <a16:creationId xmlns:a16="http://schemas.microsoft.com/office/drawing/2014/main" id="{0EB8B913-8635-B7B9-F29C-113B2BCF72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95789" y="129001"/>
            <a:ext cx="1455219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Segmentation</a:t>
            </a:r>
          </a:p>
          <a:p>
            <a:pPr algn="ctr"/>
            <a:r>
              <a:rPr lang="en-US" sz="1100" dirty="0"/>
              <a:t>Error</a:t>
            </a:r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7717</TotalTime>
  <Words>752</Words>
  <Application>Microsoft Office PowerPoint</Application>
  <PresentationFormat>Widescreen</PresentationFormat>
  <Paragraphs>142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Aptos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AI- powered dynamic mental health monitoring and  distress prediction system for atrocities victims 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Aditya Singh</cp:lastModifiedBy>
  <cp:revision>150</cp:revision>
  <dcterms:created xsi:type="dcterms:W3CDTF">2013-12-12T18:46:50Z</dcterms:created>
  <dcterms:modified xsi:type="dcterms:W3CDTF">2026-09-17T05:33:05Z</dcterms:modified>
  <cp:category/>
</cp:coreProperties>
</file>